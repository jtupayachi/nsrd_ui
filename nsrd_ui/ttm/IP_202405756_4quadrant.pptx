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/>
            <a:r>
              <a:rPr sz="2200" b="1">
                <a:solidFill>
                  <a:srgbClr val="FFFFFF"/>
                </a:solidFill>
              </a:rPr>
              <a:t>LLM &amp; RAG-Powered Autonomous Software Development</a:t>
            </a:r>
          </a:p>
          <a:p>
            <a:r>
              <a:rPr sz="1050">
                <a:solidFill>
                  <a:srgbClr val="E8F0E8"/>
                </a:solidFill>
              </a:rPr>
              <a:t>for Creating Scientific Visual Dashboards  |  ORNL Invention Disclosure 202405756  |  Disclosed 29 Aug 2024  |  Status: To Be Filed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6040983" cy="2802636"/>
          </a:xfrm>
          <a:prstGeom prst="rect">
            <a:avLst/>
          </a:prstGeom>
          <a:solidFill>
            <a:srgbClr val="FFFFFF"/>
          </a:solidFill>
          <a:ln w="19050">
            <a:solidFill>
              <a:srgbClr val="0B4F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6040983" cy="384048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Opportunity / Technology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554480"/>
            <a:ext cx="5766663" cy="22997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0B4F6C"/>
                </a:solidFill>
              </a:rPr>
              <a:t>Problem addressed: </a:t>
            </a:r>
            <a:r>
              <a:rPr sz="1000">
                <a:solidFill>
                  <a:srgbClr val="222222"/>
                </a:solidFill>
              </a:rPr>
              <a:t>Building scientific dashboards is slow, code-heavy, and requires scarce full-stack + domain expertise.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B4F6C"/>
                </a:solidFill>
              </a:rPr>
              <a:t>Technical description: </a:t>
            </a:r>
            <a:r>
              <a:rPr sz="1000">
                <a:solidFill>
                  <a:srgbClr val="222222"/>
                </a:solidFill>
              </a:rPr>
              <a:t>An autonomous agent that couples Large Language Models (LLMs) with Retrieval-Augmented Generation (RAG) to plan, generate, test, and iteratively refine end-to-end dashboard software from natural-language intent.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B4F6C"/>
                </a:solidFill>
              </a:rPr>
              <a:t>Key components: </a:t>
            </a:r>
            <a:r>
              <a:rPr sz="1000">
                <a:solidFill>
                  <a:srgbClr val="222222"/>
                </a:solidFill>
              </a:rPr>
              <a:t>RAG knowledge base over datasets, APIs &amp; design patterns; LLM code-generation pipeline; automated validation/self-correction loop; visual dashboard renderer.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B4F6C"/>
                </a:solidFill>
              </a:rPr>
              <a:t>Development stage: </a:t>
            </a:r>
            <a:r>
              <a:rPr sz="1000">
                <a:solidFill>
                  <a:srgbClr val="222222"/>
                </a:solidFill>
              </a:rPr>
              <a:t>Working prototype demonstrated on scientific/visualization workloads.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B4F6C"/>
                </a:solidFill>
              </a:rPr>
              <a:t>Fundamental advantage: </a:t>
            </a:r>
            <a:r>
              <a:rPr sz="1000">
                <a:solidFill>
                  <a:srgbClr val="222222"/>
                </a:solidFill>
              </a:rPr>
              <a:t>Grounded (RAG) generation reduces hallucination and produces deployable, data-accurate dashboards with minimal human coding.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50711" y="1097280"/>
            <a:ext cx="6040983" cy="2802636"/>
          </a:xfrm>
          <a:prstGeom prst="rect">
            <a:avLst/>
          </a:prstGeom>
          <a:solidFill>
            <a:srgbClr val="FFFFFF"/>
          </a:solidFill>
          <a:ln w="19050">
            <a:solidFill>
              <a:srgbClr val="5A3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50711" y="1097280"/>
            <a:ext cx="6040983" cy="384048"/>
          </a:xfrm>
          <a:prstGeom prst="rect">
            <a:avLst/>
          </a:prstGeom>
          <a:solidFill>
            <a:srgbClr val="5A3E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Market Opportunity &amp; Expected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7871" y="1554480"/>
            <a:ext cx="5766663" cy="22997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A3E85"/>
                </a:solidFill>
              </a:rPr>
              <a:t>Who has the problem: </a:t>
            </a:r>
            <a:r>
              <a:rPr sz="1000">
                <a:solidFill>
                  <a:srgbClr val="222222"/>
                </a:solidFill>
              </a:rPr>
              <a:t>National labs, research institutions, and enterprises needing rapid, data-driven visual dashboards.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3E85"/>
                </a:solidFill>
              </a:rPr>
              <a:t>Current solutions &amp; gap: </a:t>
            </a:r>
            <a:r>
              <a:rPr sz="1000">
                <a:solidFill>
                  <a:srgbClr val="222222"/>
                </a:solidFill>
              </a:rPr>
              <a:t>BI tools (Tableau, Power BI) and hand-coded dashboards are rigid, manual, and disconnected from live scientific data pipelines.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3E85"/>
                </a:solidFill>
              </a:rPr>
              <a:t>Impact: </a:t>
            </a:r>
            <a:r>
              <a:rPr sz="1000">
                <a:solidFill>
                  <a:srgbClr val="222222"/>
                </a:solidFill>
              </a:rPr>
              <a:t>Cuts dashboard build time from weeks to hours; democratizes access for non-programmer domain scientists.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3E85"/>
                </a:solidFill>
              </a:rPr>
              <a:t>Applications: </a:t>
            </a:r>
            <a:r>
              <a:rPr sz="1000">
                <a:solidFill>
                  <a:srgbClr val="222222"/>
                </a:solidFill>
              </a:rPr>
              <a:t>Experiment monitoring, simulation output visualization, operational/facility dashboards, reporting for sponsors.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3E85"/>
                </a:solidFill>
              </a:rPr>
              <a:t>Licensing pathway: </a:t>
            </a:r>
            <a:r>
              <a:rPr sz="1000">
                <a:solidFill>
                  <a:srgbClr val="222222"/>
                </a:solidFill>
              </a:rPr>
              <a:t>Non-exclusive software license or SaaS; consider field-limited exclusivity for vertical integrations, coupled to CRADA/SPP pilots.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009644"/>
            <a:ext cx="6040983" cy="2802636"/>
          </a:xfrm>
          <a:prstGeom prst="rect">
            <a:avLst/>
          </a:prstGeom>
          <a:solidFill>
            <a:srgbClr val="FFFFFF"/>
          </a:solidFill>
          <a:ln w="19050">
            <a:solidFill>
              <a:srgbClr val="9C4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009644"/>
            <a:ext cx="6040983" cy="384048"/>
          </a:xfrm>
          <a:prstGeom prst="rect">
            <a:avLst/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Go-to-Market &amp; Technical Development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" y="4466844"/>
            <a:ext cx="5766663" cy="22997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9C4A1E"/>
                </a:solidFill>
              </a:rPr>
              <a:t>Months 1-3 (discovery): </a:t>
            </a:r>
            <a:r>
              <a:rPr sz="1000">
                <a:solidFill>
                  <a:srgbClr val="222222"/>
                </a:solidFill>
              </a:rPr>
              <a:t>Publish technology listing; identify pilot partners across labs, universities, and analytics vendors; run NDA-protected demo webinar.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9C4A1E"/>
                </a:solidFill>
              </a:rPr>
              <a:t>Months 2-11 (validation): </a:t>
            </a:r>
            <a:r>
              <a:rPr sz="1000">
                <a:solidFill>
                  <a:srgbClr val="222222"/>
                </a:solidFill>
              </a:rPr>
              <a:t>Harden RAG grounding on partner datasets; benchmark generation accuracy &amp; self-correction; validate security, provenance, and reproducibility of generated code.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9C4A1E"/>
                </a:solidFill>
              </a:rPr>
              <a:t>Deliverable: </a:t>
            </a:r>
            <a:r>
              <a:rPr sz="1000">
                <a:solidFill>
                  <a:srgbClr val="222222"/>
                </a:solidFill>
              </a:rPr>
              <a:t>Partner-ready package: reproducible pipeline, evaluation metrics, and reference dashboard deployments.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9C4A1E"/>
                </a:solidFill>
              </a:rPr>
              <a:t>Key risks: </a:t>
            </a:r>
            <a:r>
              <a:rPr sz="1000">
                <a:solidFill>
                  <a:srgbClr val="222222"/>
                </a:solidFill>
              </a:rPr>
              <a:t>LLM hallucination/accuracy; data governance &amp; IP of generated code; integration variance across data stacks; model/version drift.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0711" y="4009644"/>
            <a:ext cx="6040983" cy="2802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E6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0711" y="4009644"/>
            <a:ext cx="6040983" cy="384048"/>
          </a:xfrm>
          <a:prstGeom prst="rect">
            <a:avLst/>
          </a:prstGeom>
          <a:solidFill>
            <a:srgbClr val="1E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Value Proposition &amp; Deployment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7871" y="4466844"/>
            <a:ext cx="5766663" cy="22997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1E6B3A"/>
                </a:solidFill>
              </a:rPr>
              <a:t>Alternatives: </a:t>
            </a:r>
            <a:r>
              <a:rPr sz="1000">
                <a:solidFill>
                  <a:srgbClr val="222222"/>
                </a:solidFill>
              </a:rPr>
              <a:t>Manual coding, static BI dashboards, generic code copilots without data grounding.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6B3A"/>
                </a:solidFill>
              </a:rPr>
              <a:t>Why better: </a:t>
            </a:r>
            <a:r>
              <a:rPr sz="1000">
                <a:solidFill>
                  <a:srgbClr val="222222"/>
                </a:solidFill>
              </a:rPr>
              <a:t>RAG grounding yields data-accurate, deployable dashboards; autonomous loop reduces developer effort; adapts to new datasets without rebuild.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6B3A"/>
                </a:solidFill>
              </a:rPr>
              <a:t>Integration challenges: </a:t>
            </a:r>
            <a:r>
              <a:rPr sz="1000">
                <a:solidFill>
                  <a:srgbClr val="222222"/>
                </a:solidFill>
              </a:rPr>
              <a:t>Medium: data connectors, access control, on-prem vs cloud LLM hosting, and validation of generated artifacts.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6B3A"/>
                </a:solidFill>
              </a:rPr>
              <a:t>Partners / licensees: </a:t>
            </a:r>
            <a:r>
              <a:rPr sz="1000">
                <a:solidFill>
                  <a:srgbClr val="222222"/>
                </a:solidFill>
              </a:rPr>
              <a:t>Analytics &amp; visualization software vendors, cloud/AI platform providers, research computing organizations.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6B3A"/>
                </a:solidFill>
              </a:rPr>
              <a:t>End users: </a:t>
            </a:r>
            <a:r>
              <a:rPr sz="1000">
                <a:solidFill>
                  <a:srgbClr val="222222"/>
                </a:solidFill>
              </a:rPr>
              <a:t>Domain scientists, data analysts, program managers, and facility operators.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