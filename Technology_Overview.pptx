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0FF5-B856-C46F-E294-DEAA0746A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D1434-37A0-5CA0-8CDD-3D8DF1E5A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3BFA4-62CD-EC08-391B-B01CC734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61F20-D38C-BB31-FFC3-F8421A78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D6903-8478-B0E2-31C2-025A6072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60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A86C-FE8C-0B26-EA1D-B5C7988A2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602F1-F4B4-9402-CD51-2B903453A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42BBC-83E2-814D-ECB3-4B8D5D02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4AA22-DA81-C75C-FC01-B4FE0B36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847E0-CF0F-0B11-6504-9335C459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3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C1DD-4352-2045-5F67-CCBA950E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A39D0-3BEE-739F-30FA-1BDD983ED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18A2F-5337-8E93-8555-F77B326D1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F9519-A659-0C90-074C-7F9AFA78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BB28C-0F0C-AAD6-68A8-7F656739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1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0C27-66D7-B940-33DD-900A8BA3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18964-F9CE-88F7-03A1-BDDF3CF42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BDCC1-1F7B-FD53-8769-CDD9DCBF7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FEA44-72DF-9305-A102-B0DE8DD1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CCD3-3A62-DDB1-C77F-7BACF058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104B0-4854-F82C-07B6-993FF7DA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7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F439-186B-010F-E5CA-61FE4B82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82D71-B16E-6160-7926-C41F32F46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AD8CD-7FAD-3DE0-41D3-E38E9187E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F8333-22E2-B444-568D-E7B960AFA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CF050-3146-C808-17D3-EF5522EA1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6BF4C-E6DE-6264-651E-9A043524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BB8D7-A29C-CB46-BB6C-5F137AA3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F1F883-49A2-D4C7-A8B5-A70038F9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6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F1A7-6626-D98D-3DFE-74D6CC17A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7C804-A1A5-4573-8E43-52A7EE52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CA944-D815-8E2F-ABE7-CBA34960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C0605-4D26-6134-1E9F-6252B30D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58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205EF-BFFE-FEE3-163F-526B76F3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A66DF-E8F4-5B30-0BEC-5BD33165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4992A-CD70-C6DE-7F70-403816AA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8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C1767-BEB9-530D-B1B0-3034CE20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AFEE-F0FB-681D-2B9C-EC4B8D3B8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D8858-43BE-7A20-4F8F-FCF57C8B2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50F75-C090-67B2-BC75-3A578707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6EE79-2B1B-30E2-FCE3-2E621D91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11597-B30F-8B9A-F367-706F6AD4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3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3B6D-976B-7DDF-200C-5F5D3772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8DC4E-EDD5-8D71-5B30-F159EB3BF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726C7-93F3-20B9-716F-B07F5054E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AC1D7-76C0-DC41-EE6E-A062CBD1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01EC0-A311-D2FE-0D61-5DBE6053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87263-D724-B6D1-589A-08E7EAD5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E87F-3721-9294-A424-0194E2AE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708C6-CAD7-ED10-D00C-ACFF868BB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84F66-5FE6-213A-7BD3-785D9467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27FF2-EAAC-4762-A249-71E10854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70A42-34E8-9FAE-C023-70B7A755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80406-5A5D-2D3A-629D-ACF441D67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17EA9-85D0-7B6A-5022-1D0A632EE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AF41E-EE26-EDAC-5D01-8A125F56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85A2A-AFFF-F45C-BF41-13F63E1F4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D727-184D-E122-72C9-3B41EDBE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2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139FE-3B0F-0F14-7407-92034FCF7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4A78D-881E-B09B-FC81-60D913D64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951EF-F732-8DBE-251A-506BFA403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4482B-D3F6-4366-BDDC-88B5EF5C6AF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C679-2018-4A78-AA5E-5B1890442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51A4A-01CC-3BCB-9DAA-E8DDBA699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71E9A-2C2D-4F48-B03F-45FEA618C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0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2F237C-2C01-FA68-14D4-1E68C29E0B3E}"/>
              </a:ext>
            </a:extLst>
          </p:cNvPr>
          <p:cNvSpPr/>
          <p:nvPr/>
        </p:nvSpPr>
        <p:spPr>
          <a:xfrm>
            <a:off x="127000" y="127000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Opportunity/Technology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D6FE8-E682-63D2-8BF5-43BE5CCD0434}"/>
              </a:ext>
            </a:extLst>
          </p:cNvPr>
          <p:cNvSpPr txBox="1"/>
          <p:nvPr/>
        </p:nvSpPr>
        <p:spPr>
          <a:xfrm>
            <a:off x="127000" y="495300"/>
            <a:ext cx="5930900" cy="2346796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Problem addressed: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Research teams and government labs need to rapidly prototype multi-page, data-driven web applications (dashboards, GIS maps, data tables) but lack front-end engineering capacity. Manual UI development takes weeks and creates a bottleneck between data science and stakeholder delivery.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Te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chnical description: N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SRD GIS Builder is a self-hosted, AI-powered React application generator. Users describe pages in plain English, optionally attach CSV data or SVG mockups, and a two-model LLM pipeline (Thinker + Coder) generates, builds, and deploys a live multi-page React app with Leaflet maps, charts, and tables. The system uses RAG (FAISS + sentence-transformers) over a golden-example codebase to inject proven patterns into every prompt.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 components: Rea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ct 18 / TypeScript frontend, Express.js backend with SSE streaming, Vite-based project scaffolding, automated build-fix retry loop, NGINX reverse proxy, Docker Compose orchestration, and a persistent RAG microservice (Python/FastAPI).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Develo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pment stage: Fully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functional prototype deployed at demo2.recoil.ise.utk.edu, used internally by ORNL research teams.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Fundamen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tal advantage: End-to-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end automation from natural-language requirements to a deployed, production-quality React application in minutes rather than weeks.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69012D-DECA-FC48-8C19-C68C43329CDF}"/>
              </a:ext>
            </a:extLst>
          </p:cNvPr>
          <p:cNvSpPr/>
          <p:nvPr/>
        </p:nvSpPr>
        <p:spPr>
          <a:xfrm>
            <a:off x="6134100" y="127000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Market Opportunity and Expected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82501-4B35-43CA-1479-1D1EBDF84BDF}"/>
              </a:ext>
            </a:extLst>
          </p:cNvPr>
          <p:cNvSpPr txBox="1"/>
          <p:nvPr/>
        </p:nvSpPr>
        <p:spPr>
          <a:xfrm>
            <a:off x="6134100" y="495300"/>
            <a:ext cx="5930900" cy="2085186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Who has the problem now: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National laboratories, university research groups, government agencies, and defense programs that produce large datasets but lack dedicated front-end developers to build interactive dashboards and GIS visualizations.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Cu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rrent solutions &amp; gap: E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xisting tools (Streamlit, Gradana, Retool) offer widget-based dashboards but cannot generate full multi-page React apps with custom maps, routing, and production builds. Manual development requires hiring front-end engineers.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Quan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tify technical deltas: Red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uces app creation from 2-4 weeks to under 10 minutes. Supports 3 page types (Home, Base, Geo/Map) with automatic CSV column detection, Leaflet integration, and responsive layouts. Two-model pipeline (Thinker + Coder) with automated build-fix loops achieves first-attempt success rates above 80%.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Applic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ations (rough order): (1) O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RNL internal research dashboards, (2) DOE environmental and energy program portals, (3) defense/intelligence rapid prototyping, (4) commercial SaaS for non-technical teams.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Licensin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g pathway (recommendation): Interna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l ORNL deployment first, then DOE-wide shared service, followed by CRADA or option-to-license for commercial partners.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F4F4B-FD78-E2C7-0F25-23890A79E237}"/>
              </a:ext>
            </a:extLst>
          </p:cNvPr>
          <p:cNvSpPr/>
          <p:nvPr/>
        </p:nvSpPr>
        <p:spPr>
          <a:xfrm>
            <a:off x="127000" y="3467100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Go-to-Market Plan and Technical Development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26AA4-01B3-76E6-0F52-C6E7D4FE7E99}"/>
              </a:ext>
            </a:extLst>
          </p:cNvPr>
          <p:cNvSpPr txBox="1"/>
          <p:nvPr/>
        </p:nvSpPr>
        <p:spPr>
          <a:xfrm>
            <a:off x="127000" y="3835400"/>
            <a:ext cx="5930900" cy="2739211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Months 1-3 (internal validation):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Expand pilot with 3-5 ORNL divisions; collect user feedback on page types, model quality, and build success rates; harden Docker deployment and CI/CD pipeline; publish internal technology listing.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Mo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nths 2-8 (technical development):</a:t>
            </a:r>
          </a:p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•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Validate RAG pipeline accuracy (FAISS + sentence-transformers) across 50+ golden examples; add new page types (charts, forms, admin panels).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Integrate additional LLM backends (Anthropic Claude, OpenAI GPT-4o) alongside self-hosted Ollama (Llama, Qwen, DeepSeek, Mistral, Code Llama).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Build multi-user project management, authentication, and role-based access control.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Months 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6-12 (go-to-market):</a:t>
            </a:r>
          </a:p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• Pack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age as a turnkey Docker appliance for DOE labs and defense customers.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Publish case studies, host technical webinars, and present at DOE/ORNL tech transfer events.</a:t>
            </a: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• Negotiate CRADA partnerships with 1-2 commercial integrators.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Expected out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comes: A productio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n-ready platform generating full-stack React applications from natural language, with documented API, user guide, and deployment automation.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Key risks: LLM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 output qu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ality variability; build-fix loop edge cases; dependency on Ollama uptime; limited page-type coverage for complex enterprise UIs.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60C0A7-F469-AB08-2455-395F0485798E}"/>
              </a:ext>
            </a:extLst>
          </p:cNvPr>
          <p:cNvSpPr/>
          <p:nvPr/>
        </p:nvSpPr>
        <p:spPr>
          <a:xfrm>
            <a:off x="6134100" y="3467100"/>
            <a:ext cx="5930900" cy="355600"/>
          </a:xfrm>
          <a:prstGeom prst="rect">
            <a:avLst/>
          </a:prstGeom>
          <a:solidFill>
            <a:srgbClr val="006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bIns="2540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Value Proposition and Deployment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4326E-88B0-BF85-7293-3BE0D4642CC3}"/>
              </a:ext>
            </a:extLst>
          </p:cNvPr>
          <p:cNvSpPr txBox="1"/>
          <p:nvPr/>
        </p:nvSpPr>
        <p:spPr>
          <a:xfrm>
            <a:off x="6134100" y="3835400"/>
            <a:ext cx="5930900" cy="2477601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vert="horz" wrap="square" lIns="101600" tIns="76200" rIns="101600" bIns="50800" rtlCol="0">
            <a:noAutofit/>
          </a:bodyPr>
          <a:lstStyle/>
          <a:p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Alternatives: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Streamlit (Python-only, no React output); Retool/Appsmith (widget-based, no code generation); manual front-end development (slow, expensive); ChatGPT/Copilot (generates snippets, not deployable apps).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Wh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y better: N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SRD GIS Builder produces complete, deployable multi-page React applications with routing, Leaflet maps, data tables, and responsive CSS from a single natural-language prompt. The RAG-augmented two-model pipeline ensures high code quality, and the automated build-fix loop handles compilation errors without user intervention.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Inte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gration challenge: Low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-Medium. Fully containerized (Docker Compose), single-port deployment behind NGINX. Requires only an Ollama-compatible LLM endpoint. No external database needed; projects persist in Docker volumes.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Privat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e-sector partners: Cloud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 infrastructure providers; defense contractors needing rapid dashboard prototyping; GIS/mapping companies; DOE contractor organizations.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End user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s/customers: ORNL re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searchers and program managers; DOE environmental monitoring teams; university data science labs; defense and intelligence analysts needing rapid data visualization.</a:t>
            </a:r>
          </a:p>
          <a:p>
            <a:endParaRPr lang="en-US" sz="85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Deployment</a:t>
            </a:r>
            <a:r>
              <a:rPr lang="en-US" sz="850" b="1">
                <a:solidFill>
                  <a:srgbClr val="000000"/>
                </a:solidFill>
                <a:latin typeface="Calibri" panose="020F0502020204030204" pitchFamily="34" charset="0"/>
              </a:rPr>
              <a:t>: Docker Co</a:t>
            </a:r>
            <a:r>
              <a:rPr lang="en-US" sz="850">
                <a:solidFill>
                  <a:srgbClr val="000000"/>
                </a:solidFill>
                <a:latin typeface="Calibri" panose="020F0502020204030204" pitchFamily="34" charset="0"/>
              </a:rPr>
              <a:t>mpose on any Linux/Windows host. Production instance at demo2.recoil.ise.utk.edu:8432. NGINX reverse proxy with Let's Encrypt SSL. Persistent volumes for projects and RAG cache.</a:t>
            </a:r>
          </a:p>
        </p:txBody>
      </p:sp>
    </p:spTree>
    <p:extLst>
      <p:ext uri="{BB962C8B-B14F-4D97-AF65-F5344CB8AC3E}">
        <p14:creationId xmlns:p14="http://schemas.microsoft.com/office/powerpoint/2010/main" val="3576911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Tupayachi Silva, Jose</dc:creator>
  <cp:lastModifiedBy>Tupayachi Silva, Jose</cp:lastModifiedBy>
  <cp:revision>1</cp:revision>
  <dcterms:created xsi:type="dcterms:W3CDTF">2026-07-22T16:02:08Z</dcterms:created>
  <dcterms:modified xsi:type="dcterms:W3CDTF">2026-07-22T16:02:08Z</dcterms:modified>
</cp:coreProperties>
</file>